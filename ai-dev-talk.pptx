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Walk on stage confidently. Pause. Let the title land.</a:t>
            </a:r>
          </a:p>
          <a:p>
            <a:r>
              <a:t>"Six months ago, I was mass-applying to jobs. Today, I ship more code in a week than most teams ship in a month — across six different products. The difference isn't that I work harder. It's that I stopped coding alone."</a:t>
            </a:r>
          </a:p>
          <a:p>
            <a:r>
              <a:t>Point to the terminal on screen: "This is running right now."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product briefly — 5 seconds each. Don't deep dive.</a:t>
            </a:r>
          </a:p>
          <a:p>
            <a:r>
              <a:t>"Cortis handles meeting intelligence. Broadside does social media posting. System Design Arcade teaches system design through games — 92 tests passing. Koo tracks baby milestones. Tossup runs cricket auctions. Zeroshot teaches Python through a cyberpunk game."</a:t>
            </a:r>
          </a:p>
          <a:p>
            <a:r>
              <a:t>Pause. "All of these are actively maintained. All by one person."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big reveal. Point at the screen.</a:t>
            </a:r>
          </a:p>
          <a:p>
            <a:r>
              <a:t>"This is running right now. While I'm here talking to you, my AI team is reviewing code, building features, and adding tests across three of my projects."</a:t>
            </a:r>
          </a:p>
          <a:p>
            <a:r>
              <a:t>Let that sink in. Pause for 3 seconds.</a:t>
            </a:r>
          </a:p>
          <a:p>
            <a:r>
              <a:t>"By the end of this talk, you'll have a complete playbook to do the same thing."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timeline quickly.</a:t>
            </a:r>
          </a:p>
          <a:p>
            <a:r>
              <a:t>"We're going to cover the full developer lifecycle — learn, plan, build, review, and oncall. Each section uses real examples from my projects. And you'll walk out with a 30-minute setup guide to try this yourself."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pain.</a:t>
            </a:r>
          </a:p>
          <a:p>
            <a:r>
              <a:t>"How many of you have lost 2 hours just trying to set up a new tool?" (Hands go up)</a:t>
            </a:r>
          </a:p>
          <a:p>
            <a:r>
              <a:t>"YouTube tutorial, docs, Stack Overflow, trial and error... We've all been there."</a:t>
            </a:r>
          </a:p>
          <a:p>
            <a:r>
              <a:t>Point right: "Here's what I do instead."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terminal output.</a:t>
            </a:r>
          </a:p>
          <a:p>
            <a:r>
              <a:t>"Someone mentioned gstack. Instead of spending 2 hours, I asked Claude one question. It explored the repo, found that /ship and /retro conflicted with my existing commands, suggested prefix mode, installed Bun — a dependency I didn't even know I needed — and configured everything."</a:t>
            </a:r>
          </a:p>
          <a:p>
            <a:r>
              <a:t>"One conversation. Zero manual steps. 36 new commands ready to go."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Let the quote land.</a:t>
            </a:r>
          </a:p>
          <a:p>
            <a:r>
              <a:t>"Your job is to ask the right questions." Pause. "That's the theme of this whole talk."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story.</a:t>
            </a:r>
          </a:p>
          <a:p>
            <a:r>
              <a:t>"I had an idea: real-time meeting intelligence. AI that listens to your meetings, enriches context about participants, and generates follow-ups."</a:t>
            </a:r>
          </a:p>
          <a:p>
            <a:r>
              <a:t>Gesture at the architecture: "FastAPI, Supabase, Claude, Pinecone, React dashboard. Cool idea. But where do you even start? That's where AI planning changes everything."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question.</a:t>
            </a:r>
          </a:p>
          <a:p>
            <a:r>
              <a:t>"gstack has a command called office-hours — modeled after YC office hours. These 6 questions force you to think critically before writing a single line of code."</a:t>
            </a:r>
          </a:p>
          <a:p>
            <a:r>
              <a:t>"It pushed back on my first framing of Cortis. Made me realize I was building too broad. Narrowed the target to: professionals who take 5+ external meetings per week."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pipeline.</a:t>
            </a:r>
          </a:p>
          <a:p>
            <a:r>
              <a:t>"Then I ran /autoplan. This chains four reviews — CEO, Design, Eng, and DX. Each uses the output of the previous one."</a:t>
            </a:r>
          </a:p>
          <a:p>
            <a:r>
              <a:t>"The eng review generated data flow diagrams, identified that I needed Pinecone for vector embeddings, and wrote a complete test plan. All from one command."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 moment. Slow down.</a:t>
            </a:r>
          </a:p>
          <a:p>
            <a:r>
              <a:t>"Planning is where AI gives you the biggest leverage. Not because it plans better than you — but because it forces you through a complete framework in minutes instead of days."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each approach.</a:t>
            </a:r>
          </a:p>
          <a:p>
            <a:r>
              <a:t>"There are three ways I run AI agents in parallel. First, the simplest: multiple tmux panes, each with its own Claude Code session. Independent, full control."</a:t>
            </a:r>
          </a:p>
          <a:p>
            <a:r>
              <a:t>"Second, Agent Teams — experimental, but fascinating. One lead assigns work, teammates get isolated context."</a:t>
            </a:r>
          </a:p>
          <a:p>
            <a:r>
              <a:t>"Third, Conductor — a visual dashboard with git worktrees for branch isolation."</a:t>
            </a:r>
          </a:p>
          <a:p>
            <a:r>
              <a:t>"I use all three depending on the situation."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crucial nuance.</a:t>
            </a:r>
          </a:p>
          <a:p>
            <a:r>
              <a:t>"Not everything should be autonomous. I match the permission level to the risk."</a:t>
            </a:r>
          </a:p>
          <a:p>
            <a:r>
              <a:t>"Side project feature branch? Full autonomy — let it rip. Production hotfix? Human in the loop every time."</a:t>
            </a:r>
          </a:p>
          <a:p>
            <a:r>
              <a:t>"This isn't just about AI. This is about good engineering discipline."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insight of the talk. Let it breathe.</a:t>
            </a:r>
          </a:p>
          <a:p>
            <a:r>
              <a:t>"You are the CEO of an AI engineering team. Your job isn't to write every line — it's to set the right constraints, assign the right tasks, and review the output."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/gstack-review doesn't just lint your code. It spawns 5 parallel specialist agents.</a:t>
            </a:r>
          </a:p>
          <a:p>
            <a:r>
              <a:t>Each gets fresh context — no bias from the others. Security checks OWASP top 10. Performance catches N+1 queries. Testing finds coverage gaps. Maintainability flags tech debt. And the red team actively tries to break your code.</a:t>
            </a:r>
          </a:p>
          <a:p>
            <a:r>
              <a:t>Findings are deduplicated and ranked by confidence.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shipping flow.</a:t>
            </a:r>
          </a:p>
          <a:p>
            <a:r>
              <a:t>"/gstack-ship is the final gate: runs tests, creates changelog, bumps version, opens PR. One command."</a:t>
            </a:r>
          </a:p>
          <a:p>
            <a:r>
              <a:t>Point to guardrails: "For production apps, I add safety layers. /careful warns before destructive commands. /freeze locks edits to one directory. /guard combines both. /cso does a full security audit."</a:t>
            </a:r>
          </a:p>
          <a:p>
            <a:r>
              <a:t>"Speed without safety is just chaos. The right guardrails let you go FASTER."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this one land.</a:t>
            </a:r>
          </a:p>
          <a:p>
            <a:r>
              <a:t>"Speed without safety is just chaos. The right guardrails let you go FASTER because you're not anxious about breaking things."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scene. Speak slowly.</a:t>
            </a:r>
          </a:p>
          <a:p>
            <a:r>
              <a:t>"It's 3 AM. PagerDuty fires. You're groggy, looking at an error you've never seen before. Code you haven't touched in months."</a:t>
            </a:r>
          </a:p>
          <a:p>
            <a:r>
              <a:t>Pause. "The old way? grep through logs. Check dashboards. Read code you forgot you wrote. Hope you don't make it worse."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step.</a:t>
            </a:r>
          </a:p>
          <a:p>
            <a:r>
              <a:t>"One command. It reads the error, traces the code path, checks git blame for recent changes, auto-freezes to the affected module so you don't accidentally break something else, and proposes a root cause with evidence."</a:t>
            </a:r>
          </a:p>
          <a:p>
            <a:r>
              <a:t>"45 minutes of context-gathering, done in 2 minutes."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Emotional beat.</a:t>
            </a:r>
          </a:p>
          <a:p>
            <a:r>
              <a:t>"AI doesn't replace your oncall judgment. It replaces the 45 minutes of context-gathering so you can make the right call in 5 minutes instead of 50."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to action. Be energetic.</a:t>
            </a:r>
          </a:p>
          <a:p>
            <a:r>
              <a:t>"Here's your challenge. Not tomorrow. Today. In the next 30 minutes after this talk."</a:t>
            </a:r>
          </a:p>
          <a:p>
            <a:r>
              <a:t>Walk through each step. "Install Claude Code. Install gstack. Open your messiest project. Run /office-hours. Then run /review on your latest PR. In 30 minutes, you'll have experienced the entire spectrum."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resource rundown. Don't linger.</a:t>
            </a:r>
          </a:p>
          <a:p>
            <a:r>
              <a:t>"Here's everything I mentioned. Claude Code is the foundation. gstack gives you 36 AI skills. tmux for parallel sessions. Agent Teams for coordinated AI workers. Conductor for visual management."</a:t>
            </a:r>
          </a:p>
          <a:p>
            <a:r>
              <a:t>"All links will be in the shared slides."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moment. Slow, confident delivery.</a:t>
            </a:r>
          </a:p>
          <a:p>
            <a:r>
              <a:t>"I'm not a 10x engineer." Pause. "I have a 10x workflow." Longer pause. Look at the audience.</a:t>
            </a:r>
          </a:p>
          <a:p>
            <a:r>
              <a:t>"And now you do too."</a:t>
            </a:r>
          </a:p>
          <a:p>
            <a:r>
              <a:t>"Thank you." Wait for applause before moving to Q&amp;A.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9144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CDD6F4"/>
                </a:solidFill>
                <a:latin typeface="Calibri"/>
              </a:rPr>
              <a:t>I maintain 6 products solo.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5486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89B4FA"/>
                </a:solidFill>
                <a:latin typeface="Calibri"/>
              </a:rPr>
              <a:t>Here's how.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6ADC8"/>
                </a:solidFill>
                <a:latin typeface="Calibri"/>
              </a:rPr>
              <a:t>Harsha  ·  HyperFocused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5486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C7086"/>
                </a:solidFill>
                <a:latin typeface="Calibri"/>
              </a:rPr>
              <a:t>Staff Engineer  ·  AWS · DoorDash · Cruise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9B4FA"/>
                </a:solidFill>
                <a:latin typeface="Consolas"/>
              </a:rPr>
              <a:t>github.com/hyperfocusedengineer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474720"/>
            <a:ext cx="4389120" cy="274320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3474720"/>
            <a:ext cx="438912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79" y="3593591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26679" y="3593591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79" y="3593591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520439"/>
            <a:ext cx="329183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tmux — agent-teams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931920"/>
            <a:ext cx="3931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❯ claude --team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Team Lead: planning sprint tasks...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Teammate 1: reviewing PR #47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Teammate 2: adding test coverage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Teammate 3: exploring codebase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DD6F4"/>
                </a:solidFill>
                <a:latin typeface="Calibri"/>
              </a:rPr>
              <a:t>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6ADC8"/>
                </a:solidFill>
                <a:latin typeface="Calibri"/>
              </a:rPr>
              <a:t>6 products. 1 engineer. All AI-powered.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1920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192024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9B4FA"/>
                </a:solidFill>
                <a:latin typeface="Calibri"/>
              </a:rPr>
              <a:t>Cortis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2834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Meeting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FastAPI + Supabase + Claude + Pinecone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645920"/>
            <a:ext cx="3383280" cy="1920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645920"/>
            <a:ext cx="54864" cy="192024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920240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A6E3A1"/>
                </a:solidFill>
                <a:latin typeface="Calibri"/>
              </a:rPr>
              <a:t>Broadside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423160"/>
            <a:ext cx="2834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Cross-Platform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926080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Expo + Cloudflare Workers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645920"/>
            <a:ext cx="3383280" cy="1920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645920"/>
            <a:ext cx="54864" cy="192024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920240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BA6F7"/>
                </a:solidFill>
                <a:latin typeface="Calibri"/>
              </a:rPr>
              <a:t>System Design Arcade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423160"/>
            <a:ext cx="2834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Gamified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926080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Expo + 92 tests passing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931920"/>
            <a:ext cx="3383280" cy="1920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931920"/>
            <a:ext cx="54864" cy="1920240"/>
          </a:xfrm>
          <a:prstGeom prst="rect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AB387"/>
                </a:solidFill>
                <a:latin typeface="Calibri"/>
              </a:rPr>
              <a:t>Koo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709159"/>
            <a:ext cx="2834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Baby Tracking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212079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Expo + Supabase + Gemini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59" y="3931920"/>
            <a:ext cx="3383280" cy="1920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59" y="3931920"/>
            <a:ext cx="54864" cy="1920240"/>
          </a:xfrm>
          <a:prstGeom prst="rect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4206240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94E2D5"/>
                </a:solidFill>
                <a:latin typeface="Calibri"/>
              </a:rPr>
              <a:t>Tossup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79" y="4709159"/>
            <a:ext cx="2834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Cricket Auctions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79" y="5212079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Next.js + Supabase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3931920"/>
            <a:ext cx="3383280" cy="1920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3931920"/>
            <a:ext cx="54864" cy="1920240"/>
          </a:xfrm>
          <a:prstGeom prst="rect">
            <a:avLst/>
          </a:prstGeom>
          <a:solidFill>
            <a:srgbClr val="F2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4206240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2CDCD"/>
                </a:solidFill>
                <a:latin typeface="Calibri"/>
              </a:rPr>
              <a:t>Zeroshot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709159"/>
            <a:ext cx="2834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Python Learning Game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5212079"/>
            <a:ext cx="2834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React + Skulpt engine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DD6F4"/>
                </a:solidFill>
                <a:latin typeface="Calibri"/>
              </a:rPr>
              <a:t>The Secret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566160" cy="237744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56616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307592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307592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307592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23444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teammate-1 — cortis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❯ Reviewing auth middleware...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Found token refresh issue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→ Fix in auth/refresh.ts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  ✓ Tests passing (14/14)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88720"/>
            <a:ext cx="3566160" cy="237744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188720"/>
            <a:ext cx="356616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89120" y="1307592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17720" y="1307592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46320" y="1307592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23444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teammate-2 — broadside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6459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❯ Adding TikTok integration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Reading TikTok API docs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→ Creating posting adapter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→ Writing unit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1188720"/>
            <a:ext cx="3566160" cy="237744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79" y="1188720"/>
            <a:ext cx="356616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38159" y="1307592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66759" y="1307592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95359" y="1307592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0" y="123444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teammate-3 — zeroshot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16459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❯ New Python challenge...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Analyzing difficulty curve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→ Level 15: async/await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  ✓ Challenge generated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155680" cy="137160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1115568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3959352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8680" y="3959352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7280" y="3959352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388620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team-lead —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97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❯ Agent Teams: 3 teammates across 3 projects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Cortis: auth fix  |  Broadside: TikTok  |  Zeroshot: content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6692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FAB387"/>
                </a:solidFill>
                <a:latin typeface="Calibri"/>
              </a:rPr>
              <a:t>Running right now. While I'm here talking to you.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DD6F4"/>
                </a:solidFill>
                <a:latin typeface="Calibri"/>
              </a:rPr>
              <a:t>The Developer Lifecycle, Reimagined</a:t>
            </a:r>
          </a:p>
        </p:txBody>
      </p:sp>
      <p:sp>
        <p:nvSpPr>
          <p:cNvPr id="3" name="Oval 2"/>
          <p:cNvSpPr/>
          <p:nvPr/>
        </p:nvSpPr>
        <p:spPr>
          <a:xfrm>
            <a:off x="960120" y="1828800"/>
            <a:ext cx="1005840" cy="100584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058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1111B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A6E3A1"/>
                </a:solidFill>
                <a:latin typeface="Calibri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1188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New stack in 30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7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2286000"/>
            <a:ext cx="365760" cy="27432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46120" y="1828800"/>
            <a:ext cx="1005840" cy="100584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965960"/>
            <a:ext cx="10058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1111B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9B4FA"/>
                </a:solidFill>
                <a:latin typeface="Calibri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61188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Idea →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402336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10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286000"/>
            <a:ext cx="365760" cy="27432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2120" y="1828800"/>
            <a:ext cx="1005840" cy="1005840"/>
          </a:xfrm>
          <a:prstGeom prst="ellipse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1965960"/>
            <a:ext cx="10058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1111B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10896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BA6F7"/>
                </a:solidFill>
                <a:latin typeface="Calibri"/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61188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Parallel AI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02336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10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2286000"/>
            <a:ext cx="365760" cy="27432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1828800"/>
            <a:ext cx="1005840" cy="1005840"/>
          </a:xfrm>
          <a:prstGeom prst="ellipse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1965960"/>
            <a:ext cx="10058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1111B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10896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AB387"/>
                </a:solidFill>
                <a:latin typeface="Calibri"/>
              </a:rP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61188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Ship with confidence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02336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7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2286000"/>
            <a:ext cx="365760" cy="27432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04120" y="1828800"/>
            <a:ext cx="1005840" cy="10058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04120" y="1965960"/>
            <a:ext cx="10058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1111B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10896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38BA8"/>
                </a:solidFill>
                <a:latin typeface="Calibri"/>
              </a:rPr>
              <a:t>ONCALL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61188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3 AM with AI backup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402336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C7086"/>
                </a:solidFill>
                <a:latin typeface="Consolas"/>
              </a:rPr>
              <a:t>5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029200"/>
            <a:ext cx="11247120" cy="54864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" y="516636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0:00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516636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0:10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516636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0:20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516636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0:30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516636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0:37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516636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0:42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0" y="516636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0:45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0" y="1371600"/>
            <a:ext cx="2743200" cy="2743200"/>
          </a:xfrm>
          <a:prstGeom prst="ellipse">
            <a:avLst/>
          </a:prstGeom>
          <a:solidFill>
            <a:srgbClr val="A6E3A1">
              <a:lumMod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0" y="1920240"/>
            <a:ext cx="2743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A6E3A1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A6E3A1"/>
                </a:solidFill>
                <a:latin typeface="Calibri"/>
              </a:rPr>
              <a:t>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6ADC8"/>
                </a:solidFill>
                <a:latin typeface="Calibri"/>
              </a:rPr>
              <a:t>How I learn a new stack in 30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828800" cy="36576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DD6F4"/>
                </a:solidFill>
                <a:latin typeface="Calibri"/>
              </a:rPr>
              <a:t>Learning a New Tool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5303520" cy="43891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8BA8"/>
                </a:solidFill>
                <a:latin typeface="Consolas"/>
              </a:rPr>
              <a:t>THE OLD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554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38BA8"/>
                </a:solidFill>
                <a:latin typeface="Consolas"/>
              </a:rPr>
              <a:t>~2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A6ADC8"/>
                </a:solidFill>
                <a:latin typeface="Calibri"/>
              </a:rPr>
              <a:t>1. Watch a YouTube tutorial (20 min)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A6ADC8"/>
                </a:solidFill>
                <a:latin typeface="Calibri"/>
              </a:rPr>
              <a:t>2. Read the docs (30 min)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A6ADC8"/>
                </a:solidFill>
                <a:latin typeface="Calibri"/>
              </a:rPr>
              <a:t>3. Search Stack Overflow (15 min)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A6ADC8"/>
                </a:solidFill>
                <a:latin typeface="Calibri"/>
              </a:rPr>
              <a:t>4. Trial and error install (20 min)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A6ADC8"/>
                </a:solidFill>
                <a:latin typeface="Calibri"/>
              </a:rPr>
              <a:t>5. Fix config conflicts (20 min)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A6ADC8"/>
                </a:solidFill>
                <a:latin typeface="Calibri"/>
              </a:rPr>
              <a:t>6. Actually start using it (15 min)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43891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4864" cy="438912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6E3A1"/>
                </a:solidFill>
                <a:latin typeface="Consolas"/>
              </a:rPr>
              <a:t>THE NEW 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55448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6E3A1"/>
                </a:solidFill>
                <a:latin typeface="Consolas"/>
              </a:rPr>
              <a:t>~15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CDD6F4"/>
                </a:solidFill>
                <a:latin typeface="Calibri"/>
              </a:rPr>
              <a:t>1. Ask Claude to explore the tool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CDD6F4"/>
                </a:solidFill>
                <a:latin typeface="Calibri"/>
              </a:rPr>
              <a:t>2. Claude reads all docs &amp; configs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CDD6F4"/>
                </a:solidFill>
                <a:latin typeface="Calibri"/>
              </a:rPr>
              <a:t>3. Claude installs + resolves conflicts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CDD6F4"/>
                </a:solidFill>
                <a:latin typeface="Calibri"/>
              </a:rPr>
              <a:t>4. Claude teaches you the workflow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CDD6F4"/>
                </a:solidFill>
                <a:latin typeface="Calibri"/>
              </a:rPr>
              <a:t/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CDD6F4"/>
                </a:solidFill>
                <a:latin typeface="Calibri"/>
              </a:rPr>
              <a:t>   One conversation. Zero manual steps.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DD6F4"/>
                </a:solidFill>
                <a:latin typeface="Calibri"/>
              </a:rPr>
              <a:t>Real Example: Installing gstack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6ADC8"/>
                </a:solidFill>
                <a:latin typeface="Calibri"/>
              </a:rPr>
              <a:t>Garry Tan's 36-command AI skill pack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475488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90472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1490472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1490472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417320"/>
            <a:ext cx="10149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claude-code — setup-gstack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❯ "Can we use Garry Tan's stack everywhere?"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6C7086"/>
                </a:solidFill>
                <a:latin typeface="Consolas"/>
              </a:rPr>
              <a:t># Claude explores the repo...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Reading package.json, SKILL.md files...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Checking for conflicts...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6C7086"/>
                </a:solidFill>
                <a:latin typeface="Consolas"/>
              </a:rPr>
              <a:t># Found conflict: /ship and /retro exist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→ Using --prefix mode (gstack- prefix)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6C7086"/>
                </a:solidFill>
                <a:latin typeface="Consolas"/>
              </a:rPr>
              <a:t># Installing dependencies...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→ Installing Bun + updating config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linked: gstack-autoplan gstack-review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  gstack-ship gstack-qa gstack-cso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  gstack-investigate ... (36 total)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  ✓ gstack ready. 36 skills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A6E3A1"/>
                </a:solidFill>
                <a:latin typeface="Calibri"/>
              </a:rP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DD6F4"/>
                </a:solidFill>
                <a:latin typeface="Calibri"/>
              </a:rPr>
              <a:t>Stop learning tools in isolation.
Let AI explore, install, configure,
and teach you — all in one 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A6E3A1"/>
                </a:solidFill>
                <a:latin typeface="Calibri"/>
              </a:rPr>
              <a:t>Your job is to ask the right questions.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0" y="1371600"/>
            <a:ext cx="2743200" cy="2743200"/>
          </a:xfrm>
          <a:prstGeom prst="ellipse">
            <a:avLst/>
          </a:prstGeom>
          <a:solidFill>
            <a:srgbClr val="89B4FA">
              <a:lumMod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0" y="1920240"/>
            <a:ext cx="2743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89B4FA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89B4FA"/>
                </a:solidFill>
                <a:latin typeface="Calibri"/>
              </a:rPr>
              <a:t>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6ADC8"/>
                </a:solidFill>
                <a:latin typeface="Calibri"/>
              </a:rPr>
              <a:t>From idea to architecture in one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8288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DD6F4"/>
                </a:solidFill>
                <a:latin typeface="Calibri"/>
              </a:rPr>
              <a:t>The Idea: Cortis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89B4FA"/>
                </a:solidFill>
                <a:latin typeface="Calibri"/>
              </a:rPr>
              <a:t>Real-time meeting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2011680" cy="13716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45720" cy="1371600"/>
          </a:xfrm>
          <a:prstGeom prst="rect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AB387"/>
                </a:solidFill>
                <a:latin typeface="Calibri"/>
              </a:rPr>
              <a:t>Microphone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Audio capture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2011680" cy="13716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2103120"/>
            <a:ext cx="45720" cy="13716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24028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9E2AF"/>
                </a:solidFill>
                <a:latin typeface="Calibri"/>
              </a:rPr>
              <a:t>Deepgram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69748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Speech-to-text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103120"/>
            <a:ext cx="2011680" cy="13716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2103120"/>
            <a:ext cx="45720" cy="13716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24028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BA6F7"/>
                </a:solidFill>
                <a:latin typeface="Calibri"/>
              </a:rPr>
              <a:t>Claude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Analysis + enrichment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2103120"/>
            <a:ext cx="2011680" cy="13716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0" y="2103120"/>
            <a:ext cx="45720" cy="1371600"/>
          </a:xfrm>
          <a:prstGeom prst="rect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24028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4E2D5"/>
                </a:solidFill>
                <a:latin typeface="Calibri"/>
              </a:rPr>
              <a:t>Pinecone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69748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Vector embeddings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03120"/>
            <a:ext cx="2011680" cy="13716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0" y="2103120"/>
            <a:ext cx="45720" cy="137160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24028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A6E3A1"/>
                </a:solidFill>
                <a:latin typeface="Calibri"/>
              </a:rPr>
              <a:t>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Real-time insights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2697480"/>
            <a:ext cx="274320" cy="36576"/>
          </a:xfrm>
          <a:prstGeom prst="rect">
            <a:avLst/>
          </a:prstGeom>
          <a:solidFill>
            <a:srgbClr val="585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0" y="2697480"/>
            <a:ext cx="274320" cy="36576"/>
          </a:xfrm>
          <a:prstGeom prst="rect">
            <a:avLst/>
          </a:prstGeom>
          <a:solidFill>
            <a:srgbClr val="585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2697480"/>
            <a:ext cx="274320" cy="36576"/>
          </a:xfrm>
          <a:prstGeom prst="rect">
            <a:avLst/>
          </a:prstGeom>
          <a:solidFill>
            <a:srgbClr val="585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26880" y="2697480"/>
            <a:ext cx="274320" cy="36576"/>
          </a:xfrm>
          <a:prstGeom prst="rect">
            <a:avLst/>
          </a:prstGeom>
          <a:solidFill>
            <a:srgbClr val="585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A6ADC8"/>
                </a:solidFill>
                <a:latin typeface="Calibri"/>
              </a:rPr>
              <a:t>Cool idea. But where do you even start?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548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C7086"/>
                </a:solidFill>
                <a:latin typeface="Consolas"/>
              </a:rPr>
              <a:t>FastAPI  ·  Supabase  ·  Claude API  ·  Pinecone  ·  React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89B4FA"/>
                </a:solidFill>
                <a:latin typeface="Consolas"/>
              </a:rPr>
              <a:t>/gstack-office-hours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6ADC8"/>
                </a:solidFill>
                <a:latin typeface="Calibri"/>
              </a:rPr>
              <a:t>6 forcing questions that challenge your assumptions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64008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737360"/>
            <a:ext cx="457200" cy="4572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B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55648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DD6F4"/>
                </a:solidFill>
                <a:latin typeface="Calibri"/>
              </a:rPr>
              <a:t>Who is this for and why do they care?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10515600" cy="64008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514600"/>
            <a:ext cx="457200" cy="45720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B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32888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DD6F4"/>
                </a:solidFill>
                <a:latin typeface="Calibri"/>
              </a:rPr>
              <a:t>What's the smallest version that proves the thesis?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00400"/>
            <a:ext cx="10515600" cy="64008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3291840"/>
            <a:ext cx="457200" cy="457200"/>
          </a:xfrm>
          <a:prstGeom prst="ellipse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918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B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10128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DD6F4"/>
                </a:solidFill>
                <a:latin typeface="Calibri"/>
              </a:rPr>
              <a:t>What's your unfair advantage?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77639"/>
            <a:ext cx="10515600" cy="64008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069079"/>
            <a:ext cx="457200" cy="45720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690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87368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DD6F4"/>
                </a:solidFill>
                <a:latin typeface="Calibri"/>
              </a:rPr>
              <a:t>What kills this?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754880"/>
            <a:ext cx="10515600" cy="64008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846320"/>
            <a:ext cx="457200" cy="457200"/>
          </a:xfrm>
          <a:prstGeom prst="ellipse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463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B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864608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DD6F4"/>
                </a:solidFill>
                <a:latin typeface="Calibri"/>
              </a:rPr>
              <a:t>How do you know it's working?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532120"/>
            <a:ext cx="10515600" cy="64008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623559"/>
            <a:ext cx="457200" cy="457200"/>
          </a:xfrm>
          <a:prstGeom prst="ellipse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62355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B"/>
                </a:solidFill>
                <a:latin typeface="Consolas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41848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DD6F4"/>
                </a:solidFill>
                <a:latin typeface="Calibri"/>
              </a:rPr>
              <a:t>What do you do first?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89B4FA"/>
                </a:solidFill>
                <a:latin typeface="Consolas"/>
              </a:rPr>
              <a:t>/gstack-autoplan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6ADC8"/>
                </a:solidFill>
                <a:latin typeface="Calibri"/>
              </a:rPr>
              <a:t>4 sequential reviews, each building on the last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560320" cy="32004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4864" cy="3200400"/>
          </a:xfrm>
          <a:prstGeom prst="rect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AB387"/>
                </a:solidFill>
                <a:latin typeface="Calibri"/>
              </a:rPr>
              <a:t>CEO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CDD6F4"/>
                </a:solidFill>
                <a:latin typeface="Calibri"/>
              </a:rPr>
              <a:t>Is this the right thing to build?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184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OUTPUT: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Vision &amp; market fit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3017520"/>
            <a:ext cx="274320" cy="36576"/>
          </a:xfrm>
          <a:prstGeom prst="rect">
            <a:avLst/>
          </a:prstGeom>
          <a:solidFill>
            <a:srgbClr val="585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1645920"/>
            <a:ext cx="2560320" cy="32004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645920"/>
            <a:ext cx="54864" cy="32004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82880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BA6F7"/>
                </a:solidFill>
                <a:latin typeface="Calibri"/>
              </a:rPr>
              <a:t>Design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377440"/>
            <a:ext cx="2011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CDD6F4"/>
                </a:solidFill>
                <a:latin typeface="Calibri"/>
              </a:rPr>
              <a:t>Is the UX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9184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OUTPUT: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1188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User flows &amp; wireframes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3017520"/>
            <a:ext cx="274320" cy="36576"/>
          </a:xfrm>
          <a:prstGeom prst="rect">
            <a:avLst/>
          </a:prstGeom>
          <a:solidFill>
            <a:srgbClr val="585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1645920"/>
            <a:ext cx="2560320" cy="32004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645920"/>
            <a:ext cx="54864" cy="3200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89B4FA"/>
                </a:solidFill>
                <a:latin typeface="Calibri"/>
              </a:rPr>
              <a:t>Eng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377440"/>
            <a:ext cx="2011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CDD6F4"/>
                </a:solidFill>
                <a:latin typeface="Calibri"/>
              </a:rPr>
              <a:t>Is the architecture sound?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29184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OUTPUT: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61188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Data models &amp; APIs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15400" y="3017520"/>
            <a:ext cx="274320" cy="36576"/>
          </a:xfrm>
          <a:prstGeom prst="rect">
            <a:avLst/>
          </a:prstGeom>
          <a:solidFill>
            <a:srgbClr val="585B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35440" y="1645920"/>
            <a:ext cx="2560320" cy="32004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5440" y="1645920"/>
            <a:ext cx="54864" cy="320040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A6E3A1"/>
                </a:solidFill>
                <a:latin typeface="Calibri"/>
              </a:rPr>
              <a:t>DX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CDD6F4"/>
                </a:solidFill>
                <a:latin typeface="Calibri"/>
              </a:rPr>
              <a:t>Is the dev experience clean?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29184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086"/>
                </a:solidFill>
                <a:latin typeface="Consolas"/>
              </a:rPr>
              <a:t>OUTPUT: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361188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Setup &amp; testing plan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30352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6ADC8"/>
                </a:solidFill>
                <a:latin typeface="Calibri"/>
              </a:rPr>
              <a:t>Each review feeds into the next. The eng review generated data flow diagrams,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6ADC8"/>
                </a:solidFill>
                <a:latin typeface="Calibri"/>
              </a:rPr>
              <a:t>identified Pinecone for vector embeddings, and wrote the test plan.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89B4FA"/>
                </a:solidFill>
                <a:latin typeface="Calibri"/>
              </a:rP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DD6F4"/>
                </a:solidFill>
                <a:latin typeface="Calibri"/>
              </a:rPr>
              <a:t>AI doesn't replace your judgment.
It gives you a structured framework
to apply your judgment faster.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89B4FA"/>
                </a:solidFill>
                <a:latin typeface="Calibri"/>
              </a:rPr>
              <a:t>You make better decisions because you've considered more angles.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0" y="1371600"/>
            <a:ext cx="2743200" cy="2743200"/>
          </a:xfrm>
          <a:prstGeom prst="ellipse">
            <a:avLst/>
          </a:prstGeom>
          <a:solidFill>
            <a:srgbClr val="CBA6F7">
              <a:lumMod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0" y="1920240"/>
            <a:ext cx="2743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CBA6F7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CBA6F7"/>
                </a:solidFill>
                <a:latin typeface="Calibri"/>
              </a:rPr>
              <a:t>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6ADC8"/>
                </a:solidFill>
                <a:latin typeface="Calibri"/>
              </a:rPr>
              <a:t>Parallel agents: your AI engineering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828800" cy="36576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DD6F4"/>
                </a:solidFill>
                <a:latin typeface="Calibri"/>
              </a:rPr>
              <a:t>Three Ways to Run AI in Parallel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566160" cy="45720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" cy="457200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017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A6E3A1"/>
                </a:solidFill>
                <a:latin typeface="Calibri"/>
              </a:rPr>
              <a:t>Multiple 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tmux panes + Claude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200400" cy="201168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68880"/>
            <a:ext cx="320040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2587752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587752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2587752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51460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tmux — 3 panes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┌──────┬──────┬──────┐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│claude│claude│claude│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│Proj A│Proj B│Proj C│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└──────┴──────┴──────┘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30175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C7086"/>
                </a:solidFill>
                <a:latin typeface="Calibri"/>
              </a:rPr>
              <a:t>Simple. Independent.
Full control.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188720"/>
            <a:ext cx="3566160" cy="45720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188720"/>
            <a:ext cx="54864" cy="45720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371600"/>
            <a:ext cx="3017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BA6F7"/>
                </a:solidFill>
                <a:latin typeface="Calibri"/>
              </a:rPr>
              <a:t>Agent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92024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Experimental — lead +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2468880"/>
            <a:ext cx="3200400" cy="201168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2468880"/>
            <a:ext cx="320040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63440" y="2587752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92040" y="2587752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120640" y="2587752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251460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agent-teams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2926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┌───────────────────┐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│    Team Lead      │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├─────┬─────┬───────┤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│ T1  │ T2  │  T3   │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└─────┴─────┴───────┘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754880"/>
            <a:ext cx="30175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C7086"/>
                </a:solidFill>
                <a:latin typeface="Calibri"/>
              </a:rPr>
              <a:t>Coordinated. Shared context.
Still exploring.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1188720"/>
            <a:ext cx="3566160" cy="45720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1188720"/>
            <a:ext cx="54864" cy="4572000"/>
          </a:xfrm>
          <a:prstGeom prst="rect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1371600"/>
            <a:ext cx="3017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AB387"/>
                </a:solidFill>
                <a:latin typeface="Calibri"/>
              </a:rPr>
              <a:t>Conductor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192024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6ADC8"/>
                </a:solidFill>
                <a:latin typeface="Calibri"/>
              </a:rPr>
              <a:t>Visual dashboard + worktrees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2468880"/>
            <a:ext cx="3200400" cy="201168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2468880"/>
            <a:ext cx="320040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03919" y="2587752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32519" y="2587752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961119" y="2587752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251460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conductor.build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926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┌───────────────────┐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│  ■ Task 1  [done] │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│  ● Task 2  [run]  │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│  ○ Task 3  [wait] │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└───────────────────┘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754880"/>
            <a:ext cx="30175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C7086"/>
                </a:solidFill>
                <a:latin typeface="Calibri"/>
              </a:rPr>
              <a:t>Visual. Git worktrees.
Branch isolation.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DD6F4"/>
                </a:solidFill>
                <a:latin typeface="Calibri"/>
              </a:rPr>
              <a:t>The Permission Spectrum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6ADC8"/>
                </a:solidFill>
                <a:latin typeface="Calibri"/>
              </a:rPr>
              <a:t>Match autonomy to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515600" cy="73152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320040" cy="32004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6E3A1"/>
                </a:solidFill>
                <a:latin typeface="Consolas"/>
              </a:rPr>
              <a:t>bypassPermissions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Autonomous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Side projects
Feature branches</a:t>
            </a:r>
          </a:p>
        </p:txBody>
      </p:sp>
      <p:sp>
        <p:nvSpPr>
          <p:cNvPr id="9" name="Oval 8"/>
          <p:cNvSpPr/>
          <p:nvPr/>
        </p:nvSpPr>
        <p:spPr>
          <a:xfrm>
            <a:off x="4663440" y="1691640"/>
            <a:ext cx="320040" cy="32004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28600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9B4FA"/>
                </a:solidFill>
                <a:latin typeface="Consolas"/>
              </a:rPr>
              <a:t>acceptEdits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6974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Auto-edit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10896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Active development
New features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0" y="1691640"/>
            <a:ext cx="320040" cy="320040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28600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E2AF"/>
                </a:solidFill>
                <a:latin typeface="Consolas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6974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Ask 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10896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Production code
Hotfixes</a:t>
            </a:r>
          </a:p>
        </p:txBody>
      </p:sp>
      <p:sp>
        <p:nvSpPr>
          <p:cNvPr id="17" name="Oval 16"/>
          <p:cNvSpPr/>
          <p:nvPr/>
        </p:nvSpPr>
        <p:spPr>
          <a:xfrm>
            <a:off x="10424160" y="1691640"/>
            <a:ext cx="320040" cy="3200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28600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38BA8"/>
                </a:solidFill>
                <a:latin typeface="Consolas"/>
              </a:rPr>
              <a:t>plan-only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6974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Read-only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10896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Oncall
Debugging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3716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6E3A1"/>
                </a:solidFill>
                <a:latin typeface="Consolas"/>
              </a:rPr>
              <a:t>SPEED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13716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8BA8"/>
                </a:solidFill>
                <a:latin typeface="Consolas"/>
              </a:rPr>
              <a:t>← SAFETY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CBA6F7"/>
                </a:solidFill>
                <a:latin typeface="Calibri"/>
              </a:rP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DD6F4"/>
                </a:solidFill>
                <a:latin typeface="Calibri"/>
              </a:rPr>
              <a:t>You are the CEO
of an AI engineering team.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CBA6F7"/>
                </a:solidFill>
                <a:latin typeface="Calibri"/>
              </a:rPr>
              <a:t>Your job isn't to write every line —
it's to set constraints, assign tasks, and review output.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0" y="1371600"/>
            <a:ext cx="2743200" cy="2743200"/>
          </a:xfrm>
          <a:prstGeom prst="ellipse">
            <a:avLst/>
          </a:prstGeom>
          <a:solidFill>
            <a:srgbClr val="FAB387">
              <a:lumMod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0" y="1920240"/>
            <a:ext cx="2743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AB387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AB387"/>
                </a:solidFill>
                <a:latin typeface="Calibri"/>
              </a:rPr>
              <a:t>REVIEW &amp; 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6ADC8"/>
                </a:solidFill>
                <a:latin typeface="Calibri"/>
              </a:rPr>
              <a:t>The review pipeline that catches what tests miss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828800" cy="36576"/>
          </a:xfrm>
          <a:prstGeom prst="rect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AB387"/>
                </a:solidFill>
                <a:latin typeface="Consolas"/>
              </a:rPr>
              <a:t>/gstack-review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6ADC8"/>
                </a:solidFill>
                <a:latin typeface="Calibri"/>
              </a:rPr>
              <a:t>Parallel specialist agents, each with fresh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828800"/>
            <a:ext cx="21031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DD6F4"/>
                </a:solidFill>
                <a:latin typeface="Calibri"/>
              </a:rPr>
              <a:t>Your PR</a:t>
            </a:r>
          </a:p>
        </p:txBody>
      </p:sp>
      <p:sp>
        <p:nvSpPr>
          <p:cNvPr id="5" name="Oval 4"/>
          <p:cNvSpPr/>
          <p:nvPr/>
        </p:nvSpPr>
        <p:spPr>
          <a:xfrm>
            <a:off x="5303520" y="2560320"/>
            <a:ext cx="1463040" cy="1463040"/>
          </a:xfrm>
          <a:prstGeom prst="ellipse">
            <a:avLst/>
          </a:prstGeom>
          <a:solidFill>
            <a:srgbClr val="313244"/>
          </a:solidFill>
          <a:ln w="25400">
            <a:solidFill>
              <a:srgbClr val="FAB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0" y="2926080"/>
            <a:ext cx="14630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AB387"/>
                </a:solidFill>
                <a:latin typeface="Consolas"/>
              </a:rPr>
              <a:t>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16459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54864" cy="164592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8BA8"/>
                </a:solidFill>
                <a:latin typeface="Calibri"/>
              </a:rPr>
              <a:t>🛡 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40280"/>
            <a:ext cx="219456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OWASP Top 10
Injection, XSS, 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2560320" cy="16459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840480"/>
            <a:ext cx="54864" cy="164592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97764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9E2AF"/>
                </a:solidFill>
                <a:latin typeface="Calibri"/>
              </a:rPr>
              <a:t>⚡ 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434840"/>
            <a:ext cx="219456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N+1 queries
Memory leaks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645920"/>
            <a:ext cx="2560320" cy="16459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0" y="1645920"/>
            <a:ext cx="54864" cy="164592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5400" y="178308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A6E3A1"/>
                </a:solidFill>
                <a:latin typeface="Calibri"/>
              </a:rPr>
              <a:t>✓  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240280"/>
            <a:ext cx="219456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Coverage gaps
Flaky test detection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840480"/>
            <a:ext cx="2560320" cy="16459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0" y="3840480"/>
            <a:ext cx="54864" cy="164592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397764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9B4FA"/>
                </a:solidFill>
                <a:latin typeface="Calibri"/>
              </a:rPr>
              <a:t>🔧  Maintainability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4434840"/>
            <a:ext cx="219456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Tech debt
Abstraction quality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4754880"/>
            <a:ext cx="3291840" cy="13716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4754880"/>
            <a:ext cx="54864" cy="13716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489204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BA6F7"/>
                </a:solidFill>
                <a:latin typeface="Calibri"/>
              </a:rPr>
              <a:t>💥  Red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534924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Tries to break
your 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DD6F4"/>
                </a:solidFill>
                <a:latin typeface="Calibri"/>
              </a:rPr>
              <a:t>The Ship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6858000" cy="530352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685800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216152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216152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216152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143000"/>
            <a:ext cx="5760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claude-code — shipping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❯ /gstack-ship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● Running tests...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    ✓ 92 tests passed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● Generating changelog...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  + TikTok integration (Broadside)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  + Token refresh fix (Cortis)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● Bumping version...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  1.4.2 → 1.5.0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● Creating pull request...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  → PR #48: feat: TikTok support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  ✓ Ship complete. PR ready.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1097280"/>
            <a:ext cx="3931920" cy="53035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280160"/>
            <a:ext cx="3383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AB387"/>
                </a:solidFill>
                <a:latin typeface="Calibri"/>
              </a:rPr>
              <a:t>Guardrails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011680"/>
            <a:ext cx="54864" cy="8229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01168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E2AF"/>
                </a:solidFill>
                <a:latin typeface="Consolas"/>
              </a:rPr>
              <a:t>/gstack-careful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7744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Warns before
destructive commands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108960"/>
            <a:ext cx="54864" cy="8229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310896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9B4FA"/>
                </a:solidFill>
                <a:latin typeface="Consolas"/>
              </a:rPr>
              <a:t>/gstack-freeze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4747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Locks edits to
one directory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4206240"/>
            <a:ext cx="54864" cy="8229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2062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6E3A1"/>
                </a:solidFill>
                <a:latin typeface="Consolas"/>
              </a:rPr>
              <a:t>/gstack-guard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57200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Both combined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5303520"/>
            <a:ext cx="54864" cy="82296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530352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38BA8"/>
                </a:solidFill>
                <a:latin typeface="Consolas"/>
              </a:rPr>
              <a:t>/gstack-cso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566928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ADC8"/>
                </a:solidFill>
                <a:latin typeface="Calibri"/>
              </a:rPr>
              <a:t>Full security audit
OWASP + STRIDE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FAB387"/>
                </a:solidFill>
                <a:latin typeface="Calibri"/>
              </a:rP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DD6F4"/>
                </a:solidFill>
                <a:latin typeface="Calibri"/>
              </a:rPr>
              <a:t>Speed without safety
is just chaos.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FAB387"/>
                </a:solidFill>
                <a:latin typeface="Calibri"/>
              </a:rPr>
              <a:t>The right guardrails let you go faster, not slower.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0" y="1371600"/>
            <a:ext cx="2743200" cy="2743200"/>
          </a:xfrm>
          <a:prstGeom prst="ellipse">
            <a:avLst/>
          </a:prstGeom>
          <a:solidFill>
            <a:srgbClr val="F38BA8">
              <a:lumMod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0" y="1920240"/>
            <a:ext cx="2743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38BA8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38BA8"/>
                </a:solidFill>
                <a:latin typeface="Calibri"/>
              </a:rPr>
              <a:t>ONCALL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6ADC8"/>
                </a:solidFill>
                <a:latin typeface="Calibri"/>
              </a:rPr>
              <a:t>3 AM pages and the AI that has your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828800" cy="36576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 i="0">
                <a:solidFill>
                  <a:srgbClr val="F38BA8"/>
                </a:solidFill>
                <a:latin typeface="Consolas"/>
              </a:rPr>
              <a:t>3:00 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2560320"/>
            <a:ext cx="8503920" cy="320040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2560320"/>
            <a:ext cx="850392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11680" y="2679191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40280" y="2679191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68880" y="2679191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2606039"/>
            <a:ext cx="7406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pagerduty — alert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3017520"/>
            <a:ext cx="8046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>🚨 CRITICAL: API response time &gt; 5s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 Service: cortis-api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 Region: us-east-1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 Duration: 12 minutes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 Impact: 340 users affected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F38BA8"/>
                </a:solidFill>
                <a:latin typeface="Consolas"/>
              </a:rPr>
              <a:t>   You're groggy. Error you've never seen.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 Code you haven't touched in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C7086"/>
                </a:solidFill>
                <a:latin typeface="Calibri"/>
              </a:rPr>
              <a:t>The old way: grep logs, check dashboards, read unfamiliar code, pray.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38BA8"/>
                </a:solidFill>
                <a:latin typeface="Consolas"/>
              </a:rPr>
              <a:t>/gstack-investigate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6ADC8"/>
                </a:solidFill>
                <a:latin typeface="Calibri"/>
              </a:rPr>
              <a:t>One command. Systematic diagnosis.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4754880"/>
          </a:xfrm>
          <a:prstGeom prst="roundRect">
            <a:avLst/>
          </a:prstGeom>
          <a:solidFill>
            <a:srgbClr val="181825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90472"/>
            <a:ext cx="128016" cy="128016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1490472"/>
            <a:ext cx="128016" cy="128016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1490472"/>
            <a:ext cx="128016" cy="128016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417320"/>
            <a:ext cx="10149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ADC8"/>
                </a:solidFill>
                <a:latin typeface="Consolas"/>
              </a:rPr>
              <a:t>claude-code — 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E3A1"/>
                </a:solidFill>
                <a:latin typeface="Consolas"/>
              </a:rPr>
              <a:t>❯ /gstack-investigate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F38BA8"/>
                </a:solidFill>
                <a:latin typeface="Consolas"/>
              </a:rPr>
              <a:t>  ● Reading error trace...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F38BA8"/>
                </a:solidFill>
                <a:latin typeface="Consolas"/>
              </a:rPr>
              <a:t>    TypeError in /api/meetings/enrich:47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● Tracing code path...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  enrich() → fetch_participant()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  → Pinecone timeout (pool exhausted)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● Checking git blame...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  PR #44 (3 days ago): pool 10 → 5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● Auto-freeze: /api/meetings/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A6ADC8"/>
                </a:solidFill>
                <a:latin typeface="Consolas"/>
              </a:rPr>
              <a:t>  ● Root cause: Pool too small (92%)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→ Fix: Revert pool, add backpressure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>
                <a:solidFill>
                  <a:srgbClr val="89B4FA"/>
                </a:solidFill>
                <a:latin typeface="Consolas"/>
              </a:rPr>
              <a:t>  → Rollback: git revert PR #44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F38BA8"/>
                </a:solidFill>
                <a:latin typeface="Calibri"/>
              </a:rP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DD6F4"/>
                </a:solidFill>
                <a:latin typeface="Calibri"/>
              </a:rPr>
              <a:t>AI doesn't replace your
oncall judgment.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38BA8"/>
                </a:solidFill>
                <a:latin typeface="Calibri"/>
              </a:rPr>
              <a:t>It replaces the 45 minutes of context-gathering
so you can make the right call in 5 minutes instead of 50.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0" y="1371600"/>
            <a:ext cx="2743200" cy="2743200"/>
          </a:xfrm>
          <a:prstGeom prst="ellipse">
            <a:avLst/>
          </a:prstGeom>
          <a:solidFill>
            <a:srgbClr val="B4BEFE">
              <a:lumMod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0" y="1920240"/>
            <a:ext cx="2743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B4BEFE"/>
                </a:solidFill>
                <a:latin typeface="Consolas"/>
              </a:rPr>
              <a:t>&gt;&gt;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4BEFE"/>
                </a:solidFill>
                <a:latin typeface="Calibri"/>
              </a:rPr>
              <a:t>THE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6ADC8"/>
                </a:solidFill>
                <a:latin typeface="Calibri"/>
              </a:rPr>
              <a:t>Your next 30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828800" cy="36576"/>
          </a:xfrm>
          <a:prstGeom prst="rect">
            <a:avLst/>
          </a:prstGeom>
          <a:solidFill>
            <a:srgbClr val="B4BE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DD6F4"/>
                </a:solidFill>
                <a:latin typeface="Calibri"/>
              </a:rPr>
              <a:t>The 30-Minute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AB387"/>
                </a:solidFill>
                <a:latin typeface="Calibri"/>
              </a:rPr>
              <a:t>Try this today. Not tomorrow. Today.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515600" cy="82296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4864" cy="8229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16459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A6E3A1"/>
                </a:solidFill>
                <a:latin typeface="Consolas"/>
              </a:rPr>
              <a:t>0-5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55448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DD6F4"/>
                </a:solidFill>
                <a:latin typeface="Calibri"/>
              </a:rPr>
              <a:t>Install Claude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92024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C7086"/>
                </a:solidFill>
                <a:latin typeface="Consolas"/>
              </a:rPr>
              <a:t>brew install claude-code  # or npm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10515600" cy="82296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54864" cy="8229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06040"/>
            <a:ext cx="16459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9B4FA"/>
                </a:solidFill>
                <a:latin typeface="Consolas"/>
              </a:rPr>
              <a:t>5-10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56032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DD6F4"/>
                </a:solidFill>
                <a:latin typeface="Calibri"/>
              </a:rPr>
              <a:t>Install gstack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2608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C7086"/>
                </a:solidFill>
                <a:latin typeface="Consolas"/>
              </a:rPr>
              <a:t>git clone garrytan/gstack &amp;&amp; ./setup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74720"/>
            <a:ext cx="10515600" cy="82296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474720"/>
            <a:ext cx="54864" cy="82296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11880"/>
            <a:ext cx="16459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BA6F7"/>
                </a:solidFill>
                <a:latin typeface="Consolas"/>
              </a:rPr>
              <a:t>10-15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6616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DD6F4"/>
                </a:solidFill>
                <a:latin typeface="Calibri"/>
              </a:rPr>
              <a:t>Open your hardest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9319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C7086"/>
                </a:solidFill>
                <a:latin typeface="Consolas"/>
              </a:rPr>
              <a:t>cd ~/projects/that-messy-one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480560"/>
            <a:ext cx="10515600" cy="82296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480560"/>
            <a:ext cx="54864" cy="822960"/>
          </a:xfrm>
          <a:prstGeom prst="rect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617720"/>
            <a:ext cx="16459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AB387"/>
                </a:solidFill>
                <a:latin typeface="Consolas"/>
              </a:rPr>
              <a:t>15-25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57200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DD6F4"/>
                </a:solidFill>
                <a:latin typeface="Calibri"/>
              </a:rPr>
              <a:t>Run /office-hours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93776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C7086"/>
                </a:solidFill>
                <a:latin typeface="Consolas"/>
              </a:rPr>
              <a:t>Challenge your biggest open question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10515600" cy="82296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54864" cy="82296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623560"/>
            <a:ext cx="16459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8BA8"/>
                </a:solidFill>
                <a:latin typeface="Consolas"/>
              </a:rPr>
              <a:t>25-30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5778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DD6F4"/>
                </a:solidFill>
                <a:latin typeface="Calibri"/>
              </a:rPr>
              <a:t>Run /review on your latest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9436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C7086"/>
                </a:solidFill>
                <a:latin typeface="Consolas"/>
              </a:rPr>
              <a:t>See what the specialists find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58368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A6ADC8"/>
                </a:solidFill>
                <a:latin typeface="Calibri"/>
              </a:rPr>
              <a:t>In 30 minutes, you'll experience the entire spectrum.
And you'll never go back to coding alone.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DD6F4"/>
                </a:solidFill>
                <a:latin typeface="Calibri"/>
              </a:rPr>
              <a:t>The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515600" cy="82296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8229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89B4FA"/>
                </a:solidFill>
                <a:latin typeface="Calibri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50876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AI coding agent (CLI + Desktop)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55448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C7086"/>
                </a:solidFill>
                <a:latin typeface="Consolas"/>
              </a:rPr>
              <a:t>claude.com/claude-code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10515600" cy="82296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4864" cy="8229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A6E3A1"/>
                </a:solidFill>
                <a:latin typeface="Calibri"/>
              </a:rPr>
              <a:t>gstack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51460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36 AI skills for the full dev lifecycle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56032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C7086"/>
                </a:solidFill>
                <a:latin typeface="Consolas"/>
              </a:rPr>
              <a:t>github.com/garrytan/gstack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10515600" cy="82296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383280"/>
            <a:ext cx="54864" cy="82296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BA6F7"/>
                </a:solidFill>
                <a:latin typeface="Calibri"/>
              </a:rPr>
              <a:t>tmux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52044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Terminal multiplexer for parallel sessions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56616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C7086"/>
                </a:solidFill>
                <a:latin typeface="Consolas"/>
              </a:rPr>
              <a:t>github.com/tmux/tmux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515600" cy="82296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4864" cy="822960"/>
          </a:xfrm>
          <a:prstGeom prst="rect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AB387"/>
                </a:solidFill>
                <a:latin typeface="Calibri"/>
              </a:rPr>
              <a:t>Agent Teams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52628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Experimental multi-agent coordination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57200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C7086"/>
                </a:solidFill>
                <a:latin typeface="Consolas"/>
              </a:rPr>
              <a:t>code.claude.com/docs/agent-teams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394960"/>
            <a:ext cx="10515600" cy="82296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394960"/>
            <a:ext cx="54864" cy="822960"/>
          </a:xfrm>
          <a:prstGeom prst="rect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4864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4E2D5"/>
                </a:solidFill>
                <a:latin typeface="Calibri"/>
              </a:rPr>
              <a:t>Conductor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53212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6F4"/>
                </a:solidFill>
                <a:latin typeface="Calibri"/>
              </a:rPr>
              <a:t>Visual dashboard + git worktrees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57784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C7086"/>
                </a:solidFill>
                <a:latin typeface="Consolas"/>
              </a:rPr>
              <a:t>conductor.build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972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CDD6F4"/>
                </a:solidFill>
                <a:latin typeface="Calibri"/>
              </a:rPr>
              <a:t>I'm not a 10x engineer.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972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89B4FA"/>
                </a:solidFill>
                <a:latin typeface="Calibri"/>
              </a:rPr>
              <a:t>I have a 10x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972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A6E3A1"/>
                </a:solidFill>
                <a:latin typeface="Calibri"/>
              </a:rPr>
              <a:t>And now you do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6ADC8"/>
                </a:solidFill>
                <a:latin typeface="Calibri"/>
              </a:rPr>
              <a:t>Harsha  ·  @hyperfocusedengineer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C7086"/>
                </a:solidFill>
                <a:latin typeface="Consolas"/>
              </a:rPr>
              <a:t>github.com/hyperfocusedengineer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